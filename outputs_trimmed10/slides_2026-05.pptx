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" y="9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900000"/>
            <a:ext cx="1075211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월간 연금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1075211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7200" b="1">
                <a:solidFill>
                  <a:srgbClr val="C89B3C"/>
                </a:solidFill>
              </a:rPr>
              <a:t>2026-05호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600000"/>
            <a:ext cx="1075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40대 DC/IRP 연금 가입자를 위한 자율주행 SAA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140000"/>
            <a:ext cx="1075211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C89B3C"/>
                </a:solidFill>
              </a:rPr>
              <a:t>21개 자산배분 모델이 합의한 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3180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2026-05-05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2529000"/>
            <a:ext cx="1075211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9000"/>
            <a:ext cx="1075211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왜 월간 연금 포트폴리오인가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29000"/>
            <a:ext cx="1075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C89B3C"/>
                </a:solidFill>
              </a:rPr>
              <a:t>0:00–1:50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왜 월간 연금 포트폴리오인가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1111211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0">
                <a:solidFill>
                  <a:srgbClr val="595959"/>
                </a:solidFill>
              </a:rPr>
              <a:t>DC, IRP에 매달 돈은 들어가는데…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340000"/>
            <a:ext cx="1111211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0">
                <a:solidFill>
                  <a:srgbClr val="595959"/>
                </a:solidFill>
              </a:rPr>
              <a:t>이걸 그냥 디폴트 옵션에 두는 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420000"/>
            <a:ext cx="1111211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400" b="1">
                <a:solidFill>
                  <a:srgbClr val="1F4E79"/>
                </a:solidFill>
              </a:rPr>
              <a:t>정말 최선일까?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인트로   |   0:00–0:15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40대 연금 가입자가 마주치는 세 가지 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900000"/>
            <a:ext cx="3440039" cy="414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6000" y="1080000"/>
            <a:ext cx="322403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7200" b="1">
                <a:solidFill>
                  <a:srgbClr val="C89B3C"/>
                </a:solidFill>
              </a:rP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2412000"/>
            <a:ext cx="3224039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시간이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3060000"/>
            <a:ext cx="3224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</a:rPr>
              <a:t>매일 시장을 들여다볼 여유가 없다.
분기마다 비중을 다시 잡는 것도 부담.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2039" y="900000"/>
            <a:ext cx="3440039" cy="414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0039" y="1080000"/>
            <a:ext cx="322403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7200" b="1">
                <a:solidFill>
                  <a:srgbClr val="C89B3C"/>
                </a:solidFill>
              </a:rPr>
              <a:t>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0039" y="2412000"/>
            <a:ext cx="3224039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방법이 너무 많다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0039" y="3060000"/>
            <a:ext cx="3224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</a:rPr>
              <a:t>Equal Weight, Risk Parity, Max Sharpe, GMV…
어떤 게 정답인지 알 수가 없다.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6079" y="900000"/>
            <a:ext cx="3440039" cy="414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4079" y="1080000"/>
            <a:ext cx="322403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7200" b="1">
                <a:solidFill>
                  <a:srgbClr val="C89B3C"/>
                </a:solidFill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079" y="2412000"/>
            <a:ext cx="3224039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규제가 까다롭다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079" y="3060000"/>
            <a:ext cx="3224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</a:rPr>
              <a:t>DC/IRP 위험자산 70% 한도
레버리지·인버스 매수 금지.
한도 안에 끼워 넣기 매번 계산.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인트로 — 문제 정의   |   0:15–0:55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그래서 매달 — 자동화된 연금 포트폴리오 의견을 공개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8000" y="900000"/>
            <a:ext cx="3440039" cy="4140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6000" y="1080000"/>
            <a:ext cx="322403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6400" b="1">
                <a:solidFill>
                  <a:srgbClr val="C89B3C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2340000"/>
            <a:ext cx="322403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21개 모델 동시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3060000"/>
            <a:ext cx="3224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단일 모델에 베팅하지 않는다.
Equal Weight, Risk Parity, GMV, HRP,
CVaR-min … 21개가 어디서 합의하는지 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2039" y="900000"/>
            <a:ext cx="3440039" cy="4140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0039" y="1080000"/>
            <a:ext cx="322403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6400" b="1">
                <a:solidFill>
                  <a:srgbClr val="C89B3C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0039" y="2340000"/>
            <a:ext cx="322403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70% 한도 자동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0039" y="3060000"/>
            <a:ext cx="3224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DC/IRP 위험자산 한도를
알고리즘이 강제한다.
어떤 비중이 나와도 한도 초과 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6079" y="900000"/>
            <a:ext cx="3440039" cy="4140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4079" y="1080000"/>
            <a:ext cx="322403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6400" b="1">
                <a:solidFill>
                  <a:srgbClr val="C89B3C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079" y="2340000"/>
            <a:ext cx="322403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매크로 14개 공개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079" y="3060000"/>
            <a:ext cx="3224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BOK 금리, KTB 10년물, USD/KRW,
브렌트유, VIX —
왜 이 비중인지 추적 가능.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인트로 — 솔루션   |   0:55–1:35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왜 매달 점검하는가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분기 정기 리밸런싱은 그대로 — 그 사이를 매달 들여다본다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2490029" cy="27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8000" y="1800000"/>
            <a:ext cx="2274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800" b="1">
                <a:solidFill>
                  <a:srgbClr val="595959"/>
                </a:solidFill>
              </a:rPr>
              <a:t>5월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2520000"/>
            <a:ext cx="227402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매월
점검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4029" y="1620000"/>
            <a:ext cx="2490029" cy="27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2029" y="1800000"/>
            <a:ext cx="2274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800" b="1">
                <a:solidFill>
                  <a:srgbClr val="595959"/>
                </a:solidFill>
              </a:rPr>
              <a:t>6월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2029" y="2520000"/>
            <a:ext cx="227402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매월
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8059" y="1620000"/>
            <a:ext cx="2490029" cy="27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59" y="1800000"/>
            <a:ext cx="2274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800" b="1">
                <a:solidFill>
                  <a:srgbClr val="595959"/>
                </a:solidFill>
              </a:rPr>
              <a:t>7월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59" y="2520000"/>
            <a:ext cx="227402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매월
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22089" y="1620000"/>
            <a:ext cx="2490029" cy="2700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0089" y="1800000"/>
            <a:ext cx="2274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8월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0089" y="2520000"/>
            <a:ext cx="227402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C89B3C"/>
                </a:solidFill>
              </a:rPr>
              <a:t>분기
리밸런싱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500000"/>
            <a:ext cx="1075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한 달 안에도 BOK 금통위·FOMC·환율·유가가 움직인다.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인트로 — 왜 월간   |   1:35–1:50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2529000"/>
            <a:ext cx="1075211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9000"/>
            <a:ext cx="1075211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5월 거시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29000"/>
            <a:ext cx="1075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C89B3C"/>
                </a:solidFill>
              </a:rPr>
              <a:t>2:00–4:00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어떤 비중을 짤지 결정하기 전 — 시장이 지금 어디?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111211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데이터 소스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332000"/>
            <a:ext cx="4860000" cy="9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0000" y="1440000"/>
            <a:ext cx="45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ECOS · 한국은행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728000"/>
            <a:ext cx="4500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GDP · CPI · 실업 · 수출 · BOK 금리 · KTB 10/3년 · USD/KRW · AA 스프레드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0000" y="1332000"/>
            <a:ext cx="2880000" cy="9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0000" y="1440000"/>
            <a:ext cx="252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FRED · 미국 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0" y="1728000"/>
            <a:ext cx="2520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Fed Funds · VIX · Brent Crude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520000"/>
            <a:ext cx="1111211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4축 점수 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2951999"/>
            <a:ext cx="10752119" cy="198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000" y="3131999"/>
            <a:ext cx="249002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성장 (Growth)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3600000"/>
            <a:ext cx="249002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GDP / 산업생산 / 수출 / 실업률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8029" y="3131999"/>
            <a:ext cx="249002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물가 (Inflation)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8029" y="3600000"/>
            <a:ext cx="249002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헤드라인 CPI / 근원 CPI / 유가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59" y="3131999"/>
            <a:ext cx="249002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통화 (Monetary)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59" y="3600000"/>
            <a:ext cx="249002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BOK 금리 / 커브 / Fed Funds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4089" y="3131999"/>
            <a:ext cx="249002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금융 (Financial)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4089" y="3600000"/>
            <a:ext cx="249002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AA 스프레드 / VIX / USD/KRW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1 — 거시 진단   |   2:00–2:15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성장 — 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GDP, 수출, 실업 모두 양호. 산업생산만 미온적.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440000"/>
            <a:ext cx="2490029" cy="23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8000" y="153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GDP YoY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174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</a:rPr>
              <a:t>+3.6%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349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전년 대비 성장률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4029" y="1440000"/>
            <a:ext cx="2490029" cy="23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62029" y="153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수출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2029" y="174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</a:rPr>
              <a:t>+49%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2029" y="349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전년 대비 — 호황 수준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8059" y="1440000"/>
            <a:ext cx="2490029" cy="23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59" y="153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실업률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59" y="174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</a:rPr>
              <a:t>2.7%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59" y="349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사실상 완전고용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22089" y="1440000"/>
            <a:ext cx="2490029" cy="23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30089" y="153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산업생산 YoY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0089" y="174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C89B3C"/>
                </a:solidFill>
              </a:rPr>
              <a:t>+1.2%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0089" y="349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외견 호황 대비 미온적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4140000"/>
            <a:ext cx="10752119" cy="9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000" y="4284000"/>
            <a:ext cx="10392119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</a:rPr>
              <a:t>→ 4축 중 성장 점수 +0.66로 가장 양호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1 — 성장   |   2:15–2:45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물가 — 안정, 그러나 유가 경계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92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헤드라인은 BOK 목표 근방. 유가 충격 시 stagflation 위험.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440000"/>
            <a:ext cx="2520000" cy="252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8000" y="1530000"/>
            <a:ext cx="2304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CPI YoY (헤드라인)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1746000"/>
            <a:ext cx="2304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</a:rPr>
              <a:t>+2.16%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3672000"/>
            <a:ext cx="2304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BOK 목표 2% 근방 — 안정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0" y="1440000"/>
            <a:ext cx="2520000" cy="252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8000" y="1530000"/>
            <a:ext cx="2304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근원 CPI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00" y="1746000"/>
            <a:ext cx="2304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</a:rPr>
              <a:t>+2.20%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8000" y="3672000"/>
            <a:ext cx="2304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기조 인플레이션 — 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1440000"/>
            <a:ext cx="2700000" cy="252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28000" y="1530000"/>
            <a:ext cx="2484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브렌트유 ($/bbl)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0" y="1746000"/>
            <a:ext cx="2484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</a:rPr>
              <a:t>$114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8000" y="3672000"/>
            <a:ext cx="2484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구조적 부담 누적 — 경계 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4140000"/>
            <a:ext cx="10752119" cy="9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000" y="4284000"/>
            <a:ext cx="10392119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</a:rPr>
              <a:t>⚠  유가 한 단계 더 → 성장 멀쩡한데 물가만 다시 뜨는 stagflation 위험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1 — 물가   |   2:45–3:15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통화·금융 — BOK 인하 사이클, 모두 평온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260000"/>
            <a:ext cx="2490029" cy="23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8000" y="135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BOK 기준금리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" y="156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2.50%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331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인하 사이클 진행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4029" y="1260000"/>
            <a:ext cx="2490029" cy="23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2029" y="135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KTB 10Y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2029" y="156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3.93%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2029" y="331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3-10Y +32bp 정상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8059" y="1260000"/>
            <a:ext cx="2490029" cy="23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59" y="135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USD/KRW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59" y="156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C89B3C"/>
                </a:solidFill>
              </a:rPr>
              <a:t>1485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59" y="331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원화 약세 지속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22089" y="1260000"/>
            <a:ext cx="2490029" cy="23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0089" y="135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VIX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0089" y="156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</a:rPr>
              <a:t>17.0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0089" y="331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변동성 지수 안정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3960000"/>
            <a:ext cx="2490029" cy="72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000" y="4032000"/>
            <a:ext cx="2346029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KTB 3Y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4284000"/>
            <a:ext cx="234602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</a:rPr>
              <a:t>3.62%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4029" y="3960000"/>
            <a:ext cx="2490029" cy="72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6029" y="4032000"/>
            <a:ext cx="2346029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AA- 스프레드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6029" y="4284000"/>
            <a:ext cx="234602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</a:rPr>
              <a:t>65bp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8059" y="3960000"/>
            <a:ext cx="2490029" cy="72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60059" y="4032000"/>
            <a:ext cx="2346029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Fed Funds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0059" y="4284000"/>
            <a:ext cx="234602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</a:rPr>
              <a:t>3.64%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22089" y="3960000"/>
            <a:ext cx="2490029" cy="72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94089" y="4032000"/>
            <a:ext cx="2346029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3-10Y 커브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4089" y="4284000"/>
            <a:ext cx="234602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</a:rPr>
              <a:t>+32bp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1 — 통화·금융   |   3:15–3:45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결론 — 4축 점수와 레짐</a:t>
            </a:r>
          </a:p>
        </p:txBody>
      </p:sp>
      <p:pic>
        <p:nvPicPr>
          <p:cNvPr id="4" name="Picture 3" descr="06_macro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00000"/>
            <a:ext cx="7200000" cy="33923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00000" y="1620000"/>
            <a:ext cx="2700000" cy="2520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08000" y="1728000"/>
            <a:ext cx="252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C89B3C"/>
                </a:solidFill>
              </a:rPr>
              <a:t>현재 레짐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2088000"/>
            <a:ext cx="252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late-cycle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3060000"/>
            <a:ext cx="252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신뢰도 0.50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8000" y="3384000"/>
            <a:ext cx="252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12m 침체확률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8000" y="3744000"/>
            <a:ext cx="252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C89B3C"/>
                </a:solidFill>
              </a:rPr>
              <a:t>사이클 후반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1 — 결론   |   3:45–4:00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2529000"/>
            <a:ext cx="1075211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9000"/>
            <a:ext cx="1075211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5월 추천 포트폴리오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29000"/>
            <a:ext cx="1075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C89B3C"/>
                </a:solidFill>
              </a:rPr>
              <a:t>4:00–5:45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21개 모델이 합의한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111211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채택된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1111211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7200" b="1">
                <a:solidFill>
                  <a:srgbClr val="1F4E79"/>
                </a:solidFill>
              </a:rPr>
              <a:t>inverse_te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700000"/>
            <a:ext cx="1111211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</a:rPr>
              <a:t>추적오차의 역수로 가중치 — late-cycle regime에 적합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960000"/>
            <a:ext cx="2880000" cy="9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3960000"/>
            <a:ext cx="2880000" cy="90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</a:rPr>
              <a:t>21개 PC 모델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0000" y="3960000"/>
            <a:ext cx="2880000" cy="900000"/>
          </a:xfrm>
          <a:prstGeom prst="roundRect">
            <a:avLst/>
          </a:prstGeom>
          <a:solidFill>
            <a:srgbClr val="C89B3C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60000" y="3960000"/>
            <a:ext cx="2880000" cy="90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inverse_te ensemble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80000" y="3960000"/>
            <a:ext cx="2880000" cy="900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80000" y="3960000"/>
            <a:ext cx="2880000" cy="90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최종 비중 10 ETF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2 — 추천 포트폴리오   |   4:00–4:15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Top 10 비중 — 큰 순서로</a:t>
            </a:r>
          </a:p>
        </p:txBody>
      </p:sp>
      <p:pic>
        <p:nvPicPr>
          <p:cNvPr id="4" name="Picture 3" descr="02_cio_top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00000"/>
            <a:ext cx="10260000" cy="558930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2 — Top 비중   |   4:15–5:00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카테고리 합계 — 한 장으로</a:t>
            </a:r>
          </a:p>
        </p:txBody>
      </p:sp>
      <p:pic>
        <p:nvPicPr>
          <p:cNvPr id="4" name="Picture 3" descr="01_cio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900000"/>
            <a:ext cx="6480000" cy="49284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080000"/>
            <a:ext cx="3060000" cy="3960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68000" y="1188000"/>
            <a:ext cx="288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C89B3C"/>
                </a:solidFill>
              </a:rPr>
              <a:t>자산군 비중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8000" y="1620000"/>
            <a:ext cx="18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주식 (Equity)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0000" y="1620000"/>
            <a:ext cx="100799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400" b="1">
                <a:solidFill>
                  <a:srgbClr val="C89B3C"/>
                </a:solidFill>
              </a:rPr>
              <a:t>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8000" y="2052000"/>
            <a:ext cx="18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채권 (FixedIncome)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0000" y="2052000"/>
            <a:ext cx="100799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400" b="1">
                <a:solidFill>
                  <a:srgbClr val="C89B3C"/>
                </a:solidFill>
              </a:rPr>
              <a:t>34%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8000" y="2484000"/>
            <a:ext cx="18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실물자산 (RealAssets)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0000" y="2484000"/>
            <a:ext cx="100799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400" b="1">
                <a:solidFill>
                  <a:srgbClr val="C89B3C"/>
                </a:solidFill>
              </a:rPr>
              <a:t>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8000" y="2916000"/>
            <a:ext cx="18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현금 (Cash)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0000" y="2916000"/>
            <a:ext cx="100799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400" b="1">
                <a:solidFill>
                  <a:srgbClr val="C89B3C"/>
                </a:solidFill>
              </a:rPr>
              <a:t>28%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8000" y="3780000"/>
            <a:ext cx="288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C89B3C"/>
                </a:solidFill>
              </a:rPr>
              <a:t>위험자산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8000" y="4104000"/>
            <a:ext cx="2880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38.0%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8000" y="4680000"/>
            <a:ext cx="288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C89B3C"/>
                </a:solidFill>
              </a:rPr>
              <a:t>한도 70% — 32%p 여유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2 — 카테고리   |   5:00–5:30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메트릭 — KR 60/40 벤치마크 대비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260000"/>
            <a:ext cx="2490029" cy="28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8000" y="135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기대수익률 E[r]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" y="156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4.98%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385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연간, 명목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4029" y="1260000"/>
            <a:ext cx="2490029" cy="28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2029" y="135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기대변동성 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2029" y="156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5.13%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2029" y="385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연간 표준편차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8059" y="1260000"/>
            <a:ext cx="2490029" cy="28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59" y="135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BT Sharpe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59" y="156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</a:rPr>
              <a:t>2.51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59" y="385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BM 1.71 대비 +0.80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22089" y="1260000"/>
            <a:ext cx="2490029" cy="28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0089" y="1350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BT MDD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0089" y="1566000"/>
            <a:ext cx="227402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2E7D32"/>
                </a:solidFill>
              </a:rPr>
              <a:t>-4.4%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0089" y="3852000"/>
            <a:ext cx="227402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BM -13.5% 대비 절반 이하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4680000"/>
            <a:ext cx="10752119" cy="72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000" y="4752000"/>
            <a:ext cx="10392119" cy="54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Tracking Error 8.41%  |  HHI 0.109  |  Effective N 9.2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2 — 메트릭   |   5:30–5:45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2529000"/>
            <a:ext cx="1075211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9000"/>
            <a:ext cx="1075211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21개 모델은 다 같은 결론?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29000"/>
            <a:ext cx="1075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C89B3C"/>
                </a:solidFill>
              </a:rPr>
              <a:t>5:45–7:45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349000"/>
            <a:ext cx="1111211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</a:rPr>
              <a:t>21개 모델은 다 같은 결론?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249000"/>
            <a:ext cx="1111211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</a:rPr>
              <a:t>답은 —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329000"/>
            <a:ext cx="1111211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400" b="0">
                <a:solidFill>
                  <a:srgbClr val="C89B3C"/>
                </a:solidFill>
              </a:rPr>
              <a:t>그런데 묘한 점이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3 — 21모델 비교   |   5:45–6:00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분포 — 위험자산 20% 부터 55% 까지 35%p 갭</a:t>
            </a:r>
          </a:p>
        </p:txBody>
      </p:sp>
      <p:pic>
        <p:nvPicPr>
          <p:cNvPr id="4" name="Picture 3" descr="03_risky_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00000"/>
            <a:ext cx="6271595" cy="4680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00000" y="1080000"/>
            <a:ext cx="3240000" cy="198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08000" y="1188000"/>
            <a:ext cx="30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가장 공격적 (50% 이상)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8000" y="1512000"/>
            <a:ext cx="3060000" cy="14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• market-cap-weight 54.8%
• equal-weight 50%
• black-litterman 50%
• cvar-min 50%
• max-entropy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0" y="3240000"/>
            <a:ext cx="3240000" cy="198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08000" y="3348000"/>
            <a:ext cx="30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</a:rPr>
              <a:t>가장 방어적 (≤25%)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8000" y="3671999"/>
            <a:ext cx="3060000" cy="14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• max-dd-constrained 20%
• tpa 22%
• gmv 23.6%
• max-sharpe 24.7%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3 — 분포   |   6:00–6:45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강건성 — ETF별 평균과 CIO 최종이 거의 일치</a:t>
            </a:r>
          </a:p>
        </p:txBody>
      </p:sp>
      <p:pic>
        <p:nvPicPr>
          <p:cNvPr id="4" name="Picture 3" descr="04_avg_vs_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00000"/>
            <a:ext cx="7200000" cy="46590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00000" y="1080000"/>
            <a:ext cx="2700000" cy="396000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08000" y="1188000"/>
            <a:ext cx="252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>
                <a:solidFill>
                  <a:srgbClr val="C89B3C"/>
                </a:solidFill>
              </a:rPr>
              <a:t>핵심 메시지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1548000"/>
            <a:ext cx="2520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Δ ≤ 1pp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2700000"/>
            <a:ext cx="2520000" cy="23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어떤 PC 방법론을 쓰더라도, 5월 매크로·CMA 환경에서는 결국 비슷한 자리로 수렴.
→ 모델 의존성 낮음
→ 결과가 강건함
→ 한두 모델의 가정이 틀려도 결론이 뒤집히지 않음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3 — 강건성   |   6:45–7:30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21개 모델 합의 자체가 시그널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007999"/>
            <a:ext cx="5016059" cy="3960000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1187999"/>
            <a:ext cx="501605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 합의가 강한 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267999"/>
            <a:ext cx="4656059" cy="25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21개 모델이 한 자리로 수렴.
→ "이 자리는 단단하다"
현재 5월 — 강건한 합의 상태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6059" y="1007999"/>
            <a:ext cx="5016059" cy="3960000"/>
          </a:xfrm>
          <a:prstGeom prst="roundRect">
            <a:avLst/>
          </a:prstGeom>
          <a:solidFill>
            <a:srgbClr val="C89B3C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16059" y="1187999"/>
            <a:ext cx="501605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△ 합의가 깨지는 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59" y="2267999"/>
            <a:ext cx="4656059" cy="25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21개 모델이 서로 다른 곳을 가리킴.
→ "무언가 변곡이 오고 있다"
다음 영상에서 같이 추적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3 — 시그널   |   7:30–7:45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2529000"/>
            <a:ext cx="1075211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>
                <a:solidFill>
                  <a:srgbClr val="C89B3C"/>
                </a:solidFill>
              </a:rP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9000"/>
            <a:ext cx="1075211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위험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29000"/>
            <a:ext cx="1075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C89B3C"/>
                </a:solidFill>
              </a:rPr>
              <a:t>7:45–9:00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2E7D32"/>
                </a:solidFill>
              </a:rPr>
              <a:t>통과 항목 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080000"/>
            <a:ext cx="10752119" cy="972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0000" y="1188000"/>
            <a:ext cx="5400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4200" b="1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1224000"/>
            <a:ext cx="967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DC/IRP 위험자산 70% 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583999"/>
            <a:ext cx="967211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</a:rPr>
              <a:t>38.0% — 32%p 여유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2232000"/>
            <a:ext cx="10752119" cy="972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0" y="2340000"/>
            <a:ext cx="5400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4200" b="1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2376000"/>
            <a:ext cx="967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카테고리 bounds (Equity 20-55%, FI 20-70%, RA ≤15%, Cash ≤30%)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735999"/>
            <a:ext cx="967211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</a:rPr>
              <a:t>모두 충족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3384000"/>
            <a:ext cx="10752119" cy="972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000" y="3492000"/>
            <a:ext cx="5400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4200" b="1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528000"/>
            <a:ext cx="967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종목별 25% 한도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0" y="3887999"/>
            <a:ext cx="9672119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</a:rPr>
              <a:t>최대 비중 14.3% (KOFR-cash)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4 — 통과   |   7:45–8:00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C89B3C"/>
                </a:solidFill>
              </a:rPr>
              <a:t>주의 항목 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080000"/>
            <a:ext cx="10752119" cy="18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0000" y="1188000"/>
            <a:ext cx="5400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4200" b="1">
                <a:solidFill>
                  <a:srgbClr val="C89B3C"/>
                </a:solidFill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1224000"/>
            <a:ext cx="967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기대변동성이 IPS 하한 미달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583999"/>
            <a:ext cx="967211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σ 5.13% &lt; IPS 하한 6.0%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1944000"/>
            <a:ext cx="967211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위험이 너무 적은 게 아니라, 수익 기회를 충분히 잡지 못하는 자리.
사이클 후반부에 의도된 결과 — 보수적인 자리에 의도적으로 머무르고 있음.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3060000"/>
            <a:ext cx="10752119" cy="180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0000" y="3168000"/>
            <a:ext cx="540000" cy="72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4200" b="1">
                <a:solidFill>
                  <a:srgbClr val="C89B3C"/>
                </a:solidFill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3204000"/>
            <a:ext cx="967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Tracking Error가 budget 초과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3563999"/>
            <a:ext cx="9672119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TE 8.41% &gt; IPS budget 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0000" y="3924000"/>
            <a:ext cx="967211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한국 60/40 벤치마크가 KOSPI 60%+국고채 40%로 한국에 너무 집중.
글로벌 분산 포트폴리오와 자연스럽게 멀어진 결과 — 다음 분기 글로벌 60/40 BM 재정의 예정.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4 — 주의   |   8:00–8:30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스트레스 시나리오 3가지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080000"/>
            <a:ext cx="3356039" cy="396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8000" y="1188000"/>
            <a:ext cx="314003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400" b="1">
                <a:solidFill>
                  <a:srgbClr val="C89B3C"/>
                </a:solidFill>
              </a:rPr>
              <a:t>🛢️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" y="1980000"/>
            <a:ext cx="314003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유가 충격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2448000"/>
            <a:ext cx="314003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C89B3C"/>
                </a:solidFill>
              </a:rPr>
              <a:t>Brent → $130+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060000"/>
            <a:ext cx="2996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Gold 5% + US IG 8%가
인플레 헷지로 작동.
현금 28%는 추가 매수 여력.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0039" y="1080000"/>
            <a:ext cx="3356039" cy="396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8039" y="1188000"/>
            <a:ext cx="314003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</a:rP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8039" y="1980000"/>
            <a:ext cx="314003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BOK 추가 인하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8039" y="2448000"/>
            <a:ext cx="314003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2.5% → 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039" y="3060000"/>
            <a:ext cx="2996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KR 10Y 14% + US 10Y 12%
듀레이션 노출.
평가이익 +1.5–2% 기대.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0079" y="1080000"/>
            <a:ext cx="3356039" cy="396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28079" y="1188000"/>
            <a:ext cx="3140039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400" b="1">
                <a:solidFill>
                  <a:srgbClr val="2E7D32"/>
                </a:solidFill>
              </a:rPr>
              <a:t>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8079" y="1980000"/>
            <a:ext cx="314003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원/달러 충격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8079" y="2448000"/>
            <a:ext cx="314003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>
                <a:solidFill>
                  <a:srgbClr val="2E7D32"/>
                </a:solidFill>
              </a:rPr>
              <a:t>1485 → 1550+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079" y="3060000"/>
            <a:ext cx="2996039" cy="18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US Equity 16% 환노출.
원화환산 +5–7% 가능.
Gold·US IG는 헷지.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4 — 스트레스   |   8:30–9:00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다음 한 달, 무엇을 보아야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분기 정기 리밸런싱은 8월. 그 사이 트리거 4가지.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2490029" cy="378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800000"/>
            <a:ext cx="2490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BOK 금통위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700000"/>
            <a:ext cx="2490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임계값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060000"/>
            <a:ext cx="2490029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기준금리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" y="4140000"/>
            <a:ext cx="227402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추가 인하?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4029" y="1620000"/>
            <a:ext cx="2490029" cy="378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4029" y="1800000"/>
            <a:ext cx="2490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브렌트유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4029" y="2700000"/>
            <a:ext cx="2490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임계값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4029" y="3060000"/>
            <a:ext cx="2490029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C0392B"/>
                </a:solidFill>
              </a:rPr>
              <a:t>$120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2029" y="4140000"/>
            <a:ext cx="227402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돌파 시 stagflation 전환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8059" y="1620000"/>
            <a:ext cx="2490029" cy="378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8059" y="1800000"/>
            <a:ext cx="2490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USD/KRW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8059" y="2700000"/>
            <a:ext cx="2490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임계값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8059" y="3060000"/>
            <a:ext cx="2490029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C89B3C"/>
                </a:solidFill>
              </a:rPr>
              <a:t>1500 / 1450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59" y="4140000"/>
            <a:ext cx="227402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어느 쪽이든 IPS escalation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22089" y="1620000"/>
            <a:ext cx="2490029" cy="378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C8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089" y="1800000"/>
            <a:ext cx="2490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VIX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089" y="2700000"/>
            <a:ext cx="249002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</a:rPr>
              <a:t>임계값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089" y="3060000"/>
            <a:ext cx="2490029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1">
                <a:solidFill>
                  <a:srgbClr val="C89B3C"/>
                </a:solidFill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0089" y="4140000"/>
            <a:ext cx="227402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초과 시 위험자산 추가 축소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본론 5 — 다음 점검   |   9:00–9:50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</a:rPr>
              <a:t>면책 고지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080000"/>
            <a:ext cx="10752119" cy="39600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2000" y="1332000"/>
            <a:ext cx="10248119" cy="34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본 영상은 자율주행 SAA 파이프라인이 산출한 정보를 시각화한 정보 제공 자료이며, 특정 금융상품의 매수·매도 권유가 아닙니다.
투자자문업·투자일임업·투자권유 행위가 아닙니다.
백테스트 결과는 가상의 가정에 기반하며 미래 성과를 보장하지 않습니다.
DC/IRP 규제(위험자산 70% 한도, 레버리지·인버스 ETF 매수 금지)를 가정한 IPS 하에서 산출된 결과입니다.
실제 투자 결정 전 본인의 투자목적, 위험감수도, 재무상황을 종합적으로 검토하시기 바랍니다.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4000"/>
            <a:ext cx="12192119" cy="1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6598800"/>
            <a:ext cx="10752119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클로징 — 면책   |   9:50–10:10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2119" y="6598800"/>
            <a:ext cx="108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112119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>
                <a:solidFill>
                  <a:srgbClr val="C89B3C"/>
                </a:solidFill>
              </a:rPr>
              <a:t>2026-05호 — 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620000"/>
            <a:ext cx="11112119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다음 6월호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700000"/>
            <a:ext cx="10752119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BOK 5월 결정과 매크로 변화가
21개 모델 합의를 어떻게 흔들었는지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778000"/>
            <a:ext cx="1111211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>
                <a:solidFill>
                  <a:srgbClr val="C89B3C"/>
                </a:solidFill>
              </a:rPr>
              <a:t>구독 · 알림 · 댓글로 통장 사정 질문 환영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318000"/>
            <a:ext cx="11112119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월간 연금 포트폴리오 · AI 은퇴준비파트너 · 투영인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1510</Words>
  <Application>Microsoft Office PowerPoint</Application>
  <PresentationFormat>와이드스크린</PresentationFormat>
  <Paragraphs>277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 재훈</cp:lastModifiedBy>
  <cp:revision>1</cp:revision>
  <dcterms:created xsi:type="dcterms:W3CDTF">2013-01-27T09:14:16Z</dcterms:created>
  <dcterms:modified xsi:type="dcterms:W3CDTF">2026-05-05T02:31:40Z</dcterms:modified>
  <cp:category/>
</cp:coreProperties>
</file>